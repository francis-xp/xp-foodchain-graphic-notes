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5" r:id="rId5"/>
    <p:sldId id="258" r:id="rId6"/>
    <p:sldId id="259" r:id="rId7"/>
    <p:sldId id="260" r:id="rId8"/>
    <p:sldId id="261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食物链双萃杯卖点</a:t>
            </a:r>
            <a:r>
              <a:rPr lang="zh-CN" altLang="zh-CN"/>
              <a:t>整合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——</a:t>
            </a:r>
            <a:r>
              <a:rPr lang="zh-CN" altLang="en-US"/>
              <a:t>犬用</a:t>
            </a:r>
            <a:r>
              <a:rPr lang="zh-CN" altLang="en-US"/>
              <a:t>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一、产品基础信息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全价犬用湿粮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5335" y="1451610"/>
            <a:ext cx="5320665" cy="3099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sym typeface="Helvetica Neue" panose="02000503000000020004"/>
              </a:rPr>
              <a:t>口味配方：鸡肉兔肉配方、鸡肉鸽肉配方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产品规格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：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单塑杯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80g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售卖规格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：480 g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盒装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80g*6</a:t>
            </a:r>
            <a:endParaRPr lang="en-US" altLang="zh-CN" sz="1600" b="0" dirty="0"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               480 g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二合一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混合盒装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80g*6</a:t>
            </a:r>
            <a:endParaRPr kumimoji="0" lang="en-US" altLang="zh-CN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赠送规格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： 160 g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二合一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混合盒装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 80g*2</a:t>
            </a:r>
            <a:endParaRPr lang="en-US" altLang="zh-CN" sz="1600" b="0" dirty="0"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适用对象：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2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月龄以上全犬种</a:t>
            </a:r>
            <a:endParaRPr lang="zh-CN" altLang="en-US" sz="1600" b="0" dirty="0"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保质期限：常温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18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个月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(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未开封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)</a:t>
            </a:r>
            <a:endParaRPr lang="en-US" altLang="zh-CN" sz="1600" b="0" dirty="0"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杀菌工艺</a:t>
            </a:r>
            <a:r>
              <a:rPr lang="en-US" altLang="zh-CN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：</a:t>
            </a:r>
            <a:r>
              <a:rPr lang="zh-CN" altLang="en-US" sz="1600" b="0" dirty="0">
                <a:latin typeface="微软雅黑" pitchFamily="34" charset="0"/>
                <a:ea typeface="微软雅黑" pitchFamily="34" charset="0"/>
                <a:cs typeface="微软雅黑" pitchFamily="34" charset="0"/>
                <a:sym typeface="Helvetica Neue" panose="02000503000000020004"/>
              </a:rPr>
              <a:t>高温杀菌</a:t>
            </a:r>
            <a:endParaRPr kumimoji="0" lang="en-US" altLang="zh-CN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68173" y="1533525"/>
            <a:ext cx="2556510" cy="7061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FillTx/>
              <a:latin typeface="微软雅黑" pitchFamily="34" charset="0"/>
              <a:ea typeface="微软雅黑" pitchFamily="34" charset="0"/>
              <a:cs typeface="微软雅黑" pitchFamily="34" charset="0"/>
              <a:sym typeface="Helvetica Neue" panose="02000503000000020004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二、产品</a:t>
            </a:r>
            <a:r>
              <a:rPr lang="zh-CN" altLang="en-US">
                <a:sym typeface="+mn-ea"/>
              </a:rPr>
              <a:t>卖点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1313815"/>
            <a:ext cx="8559800" cy="1713230"/>
          </a:xfrm>
          <a:prstGeom prst="rect">
            <a:avLst/>
          </a:prstGeom>
        </p:spPr>
        <p:txBody>
          <a:bodyPr>
            <a:noAutofit/>
          </a:bodyPr>
          <a:p>
            <a:pPr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卖点分为三个层级：</a:t>
            </a:r>
            <a:endParaRPr lang="en-US" altLang="zh-CN" sz="1600" b="1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1600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核心USP，最具差异化、最难复制：卖点1、卖点2</a:t>
            </a: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1600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功能卖点，可感知的健康价值：卖点3、</a:t>
            </a:r>
            <a:r>
              <a:rPr lang="en-US" altLang="zh-CN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卖点4</a:t>
            </a: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1600" i="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体验卖点：使用场景与感官体验：</a:t>
            </a:r>
            <a:r>
              <a:rPr lang="en-US" altLang="zh-CN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卖点5、卖点6</a:t>
            </a: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endParaRPr lang="en-US" altLang="zh-CN" sz="1600" i="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1</a:t>
            </a:r>
            <a:r>
              <a:rPr lang="zh-CN" altLang="en-US" sz="3200">
                <a:sym typeface="+mn-ea"/>
              </a:rPr>
              <a:t>：</a:t>
            </a:r>
            <a:r>
              <a:rPr lang="en-US" altLang="zh-CN" sz="3200">
                <a:sym typeface="+mn-ea"/>
              </a:rPr>
              <a:t>0</a:t>
            </a:r>
            <a:r>
              <a:rPr lang="zh-CN" altLang="en-US" sz="3200">
                <a:sym typeface="+mn-ea"/>
              </a:rPr>
              <a:t>添加剂组成</a:t>
            </a:r>
            <a:r>
              <a:rPr lang="en-US" altLang="zh-CN" sz="3200">
                <a:sym typeface="+mn-ea"/>
              </a:rPr>
              <a:t>·</a:t>
            </a:r>
            <a:r>
              <a:rPr lang="zh-CN" altLang="en-US" sz="3200">
                <a:sym typeface="+mn-ea"/>
              </a:rPr>
              <a:t>天然食材实现全价营养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780395" cy="1593850"/>
          </a:xfrm>
        </p:spPr>
        <p:txBody>
          <a:bodyPr>
            <a:noAutofit/>
          </a:bodyPr>
          <a:p>
            <a:pPr marL="0" indent="0">
              <a:spcAft>
                <a:spcPts val="0"/>
              </a:spcAft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1.1 </a:t>
            </a:r>
            <a:r>
              <a:rPr lang="zh-CN" altLang="en-US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定义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配料表最后一行写着：</a:t>
            </a:r>
            <a:r>
              <a:rPr lang="en-US" altLang="zh-CN" sz="1500"/>
              <a:t>“</a:t>
            </a:r>
            <a:r>
              <a:rPr lang="zh-CN" altLang="en-US" sz="1500"/>
              <a:t>添加剂组成：无</a:t>
            </a:r>
            <a:r>
              <a:rPr lang="en-US" altLang="zh-CN" sz="1500"/>
              <a:t>”</a:t>
            </a:r>
            <a:endParaRPr lang="en-US" altLang="zh-CN" sz="150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这意味着：无人工矿物质预混料（硫酸锌、硫酸铜等）</a:t>
            </a:r>
            <a:r>
              <a:rPr lang="en-US" altLang="zh-CN" sz="1500"/>
              <a:t>、</a:t>
            </a:r>
            <a:r>
              <a:rPr lang="zh-CN" altLang="en-US" sz="1500"/>
              <a:t>无人工维生素预混料</a:t>
            </a:r>
            <a:r>
              <a:rPr lang="en-US" altLang="zh-CN" sz="1500"/>
              <a:t>、</a:t>
            </a:r>
            <a:r>
              <a:rPr lang="zh-CN" altLang="en-US" sz="1500"/>
              <a:t>无人工牛磺酸</a:t>
            </a:r>
            <a:r>
              <a:rPr lang="en-US" altLang="zh-CN" sz="1500"/>
              <a:t>、</a:t>
            </a:r>
            <a:r>
              <a:rPr lang="zh-CN" altLang="en-US" sz="1500"/>
              <a:t>无胶质</a:t>
            </a:r>
            <a:r>
              <a:rPr lang="en-US" altLang="zh-CN" sz="1500"/>
              <a:t>/</a:t>
            </a:r>
            <a:r>
              <a:rPr lang="zh-CN" altLang="en-US" sz="1500"/>
              <a:t>诱食剂</a:t>
            </a:r>
            <a:r>
              <a:rPr lang="en-US" altLang="zh-CN" sz="1500"/>
              <a:t>/</a:t>
            </a:r>
            <a:r>
              <a:rPr lang="zh-CN" altLang="en-US" sz="1500"/>
              <a:t>无防腐剂</a:t>
            </a:r>
            <a:r>
              <a:rPr lang="en-US" altLang="zh-CN" sz="1500"/>
              <a:t>/</a:t>
            </a:r>
            <a:r>
              <a:rPr lang="zh-CN" altLang="en-US" sz="1500"/>
              <a:t>无色素</a:t>
            </a:r>
            <a:endParaRPr lang="zh-CN" altLang="en-US" sz="150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全部营养，</a:t>
            </a:r>
            <a:r>
              <a:rPr lang="en-US" altLang="zh-CN" sz="1500"/>
              <a:t>100%</a:t>
            </a:r>
            <a:r>
              <a:rPr lang="zh-CN" altLang="en-US" sz="1500"/>
              <a:t>来自天然食材本身。</a:t>
            </a:r>
            <a:endParaRPr lang="en-US" altLang="zh-CN" sz="1500"/>
          </a:p>
          <a:p>
            <a:pPr marL="0" indent="0">
              <a:buNone/>
            </a:pPr>
            <a:endParaRPr lang="en-US" altLang="zh-CN" sz="1500"/>
          </a:p>
        </p:txBody>
      </p:sp>
      <p:sp>
        <p:nvSpPr>
          <p:cNvPr id="7" name="文本框 6"/>
          <p:cNvSpPr txBox="1"/>
          <p:nvPr/>
        </p:nvSpPr>
        <p:spPr>
          <a:xfrm>
            <a:off x="608330" y="3390900"/>
            <a:ext cx="10781030" cy="15424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1.2 为什么难做到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大多数主食罐为了保证“全价营养”，会添加人工矿物质、人工维生素、人工牛磺酸等预混料。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原因：成本低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供应链稳定容易精准控制营养指标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用天然食材替代需要：精选特定食材（如鸡心补牛磺酸）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精准配方搭配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更高的品控要求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pPr marL="0" indent="0">
              <a:buNone/>
            </a:pP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330" y="5029835"/>
            <a:ext cx="7912100" cy="6419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1.3符合《清洁标签食品真实性评价指南》最高标准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buNone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配料简洁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天然优先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非必要不添加化学合成添加剂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加工透明、标签易懂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1400155" cy="705485"/>
          </a:xfrm>
        </p:spPr>
        <p:txBody>
          <a:bodyPr/>
          <a:p>
            <a:r>
              <a:rPr lang="zh-CN" altLang="en-US" sz="3200"/>
              <a:t>卖点</a:t>
            </a:r>
            <a:r>
              <a:rPr lang="en-US" altLang="zh-CN" sz="3200"/>
              <a:t>2</a:t>
            </a:r>
            <a:r>
              <a:rPr lang="zh-CN" altLang="en-US" sz="3200"/>
              <a:t>：</a:t>
            </a:r>
            <a:r>
              <a:rPr lang="en-US" altLang="zh-CN" sz="3200"/>
              <a:t>A2</a:t>
            </a:r>
            <a:r>
              <a:rPr lang="zh-CN" altLang="en-US" sz="3200"/>
              <a:t>型绵羊乳添加</a:t>
            </a:r>
            <a:r>
              <a:rPr lang="en-US" altLang="zh-CN" sz="3200"/>
              <a:t>，</a:t>
            </a:r>
            <a:r>
              <a:rPr lang="zh-CN" altLang="en-US" sz="3200"/>
              <a:t>免疫</a:t>
            </a:r>
            <a:r>
              <a:rPr lang="en-US" altLang="zh-CN" sz="3200"/>
              <a:t>+</a:t>
            </a:r>
            <a:r>
              <a:rPr lang="zh-CN" altLang="en-US" sz="3200"/>
              <a:t>肠道健康双重提升</a:t>
            </a:r>
            <a:endParaRPr lang="zh-CN" altLang="en-US" sz="3200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237615"/>
            <a:ext cx="10780395" cy="1593850"/>
          </a:xfrm>
        </p:spPr>
        <p:txBody>
          <a:bodyPr>
            <a:noAutofit/>
          </a:bodyPr>
          <a:p>
            <a:pPr marL="0" algn="l">
              <a:spcAft>
                <a:spcPts val="0"/>
              </a:spcAft>
              <a:buClrTx/>
              <a:buSzTx/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2.1 什么是A2奶？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500"/>
              <a:t>奶中的</a:t>
            </a:r>
            <a:r>
              <a:rPr lang="en-US" altLang="zh-CN" sz="1500"/>
              <a:t>β-</a:t>
            </a:r>
            <a:r>
              <a:rPr lang="zh-CN" altLang="en-US" sz="1500"/>
              <a:t>酪蛋白分为</a:t>
            </a:r>
            <a:r>
              <a:rPr lang="en-US" altLang="zh-CN" sz="1500"/>
              <a:t>A1</a:t>
            </a:r>
            <a:r>
              <a:rPr lang="zh-CN" altLang="en-US" sz="1500"/>
              <a:t>型和</a:t>
            </a:r>
            <a:r>
              <a:rPr lang="en-US" altLang="zh-CN" sz="1500"/>
              <a:t>A2</a:t>
            </a:r>
            <a:r>
              <a:rPr lang="zh-CN" altLang="en-US" sz="1500"/>
              <a:t>型</a:t>
            </a:r>
            <a:endParaRPr lang="zh-CN" altLang="en-US" sz="1500"/>
          </a:p>
          <a:p>
            <a:pPr>
              <a:spcAft>
                <a:spcPts val="0"/>
              </a:spcAft>
            </a:pPr>
            <a:r>
              <a:rPr lang="en-US" altLang="zh-CN" sz="1500"/>
              <a:t>A1</a:t>
            </a:r>
            <a:r>
              <a:rPr lang="zh-CN" altLang="en-US" sz="1500"/>
              <a:t>奶：消化会产生</a:t>
            </a:r>
            <a:r>
              <a:rPr lang="en-US" altLang="zh-CN" sz="1500"/>
              <a:t>BCM-7</a:t>
            </a:r>
            <a:r>
              <a:rPr lang="zh-CN" altLang="en-US" sz="1500"/>
              <a:t>（</a:t>
            </a:r>
            <a:r>
              <a:rPr lang="en-US" altLang="zh-CN" sz="1500"/>
              <a:t>β-</a:t>
            </a:r>
            <a:r>
              <a:rPr lang="zh-CN" altLang="en-US" sz="1500"/>
              <a:t>酪啡肽</a:t>
            </a:r>
            <a:r>
              <a:rPr lang="en-US" altLang="zh-CN" sz="1500"/>
              <a:t>-7</a:t>
            </a:r>
            <a:r>
              <a:rPr lang="zh-CN" altLang="en-US" sz="1500"/>
              <a:t>），一种阿片类肽，可能引发肠道不适、炎症反应，增加糖尿病风险、损害免疫系统</a:t>
            </a:r>
            <a:endParaRPr lang="zh-CN" altLang="en-US" sz="1500"/>
          </a:p>
          <a:p>
            <a:pPr>
              <a:spcAft>
                <a:spcPts val="0"/>
              </a:spcAft>
            </a:pPr>
            <a:r>
              <a:rPr lang="en-US" altLang="zh-CN" sz="1500"/>
              <a:t>A2</a:t>
            </a:r>
            <a:r>
              <a:rPr lang="zh-CN" altLang="en-US" sz="1500"/>
              <a:t>奶：几乎不产生</a:t>
            </a:r>
            <a:r>
              <a:rPr lang="en-US" altLang="zh-CN" sz="1500"/>
              <a:t>BCM-7</a:t>
            </a:r>
            <a:r>
              <a:rPr lang="zh-CN" altLang="en-US" sz="1500"/>
              <a:t>，更温和、更友好</a:t>
            </a:r>
            <a:endParaRPr lang="zh-CN" altLang="en-US" sz="1500"/>
          </a:p>
        </p:txBody>
      </p:sp>
      <p:sp>
        <p:nvSpPr>
          <p:cNvPr id="7" name="文本框 6"/>
          <p:cNvSpPr txBox="1"/>
          <p:nvPr/>
        </p:nvSpPr>
        <p:spPr>
          <a:xfrm>
            <a:off x="608330" y="2907665"/>
            <a:ext cx="10781030" cy="1611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2.2 A2型β-酪蛋白的科学证据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免疫提升：显著增加免疫球蛋白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IgG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IgM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IgA；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增强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IL-17A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TNF-α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、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IFN-γ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的产生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降低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IL-4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炎症因子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减轻免疫器官损伤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肠道健康：增加有益菌丰度，减少有害菌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增加短链脂肪酸（乙酸、丙酸、丁酸）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改善肠道菌群紊乱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整体改善：血清生化指标趋于健康值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；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明显改善生理状况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8330" y="4565015"/>
            <a:ext cx="10689590" cy="2188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indent="-22860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</a:pPr>
            <a:r>
              <a:rPr lang="en-US" altLang="zh-CN" sz="1600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Helvetica Neue" panose="02000503000000020004"/>
              </a:rPr>
              <a:t>2.3绵羊奶相较普通牛奶优势</a:t>
            </a:r>
            <a:endParaRPr lang="en-US" altLang="zh-CN" sz="1600" b="1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绵羊乳中乳铁蛋白是普通牛乳的3.5倍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绵羊奶中短链脂肪酸是普通牛奶的3倍，脂肪球也小于牛奶，更容易被</a:t>
            </a: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狗狗吸收利用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绵羊奶致敏率是牛奶的40分之一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绵羊奶中酪蛋白胶团微粒较小，与牛奶相比更容易消化吸收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kumimoji="0" lang="zh-CN" altLang="en-US" sz="1500" i="0" u="none" strike="noStrike" cap="none" spc="150" normalizeH="0" baseline="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在15种重要营养成分的摄取方面，绵羊奶在其中的12项显著优于牛奶和山羊奶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；</a:t>
            </a:r>
            <a:endParaRPr lang="zh-CN" altLang="en-US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  <a:p>
            <a:pPr marL="2857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草饲喂养的绵羊乳富含共轭亚油酸（CLA）,可以加速机体的脂肪转运，有利于抗炎</a:t>
            </a:r>
            <a:r>
              <a:rPr lang="en-US" altLang="zh-CN" sz="15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Helvetica Neue" panose="02000503000000020004"/>
              </a:rPr>
              <a:t>。</a:t>
            </a:r>
            <a:endParaRPr lang="en-US" altLang="zh-CN" sz="15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Helvetica Neue" panose="02000503000000020004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2</a:t>
            </a:r>
            <a:r>
              <a:rPr lang="zh-CN" altLang="en-US" sz="3200">
                <a:sym typeface="+mn-ea"/>
              </a:rPr>
              <a:t>：</a:t>
            </a:r>
            <a:r>
              <a:rPr lang="en-US" altLang="zh-CN" sz="3200">
                <a:sym typeface="+mn-ea"/>
              </a:rPr>
              <a:t>A2</a:t>
            </a:r>
            <a:r>
              <a:rPr lang="zh-CN" altLang="en-US" sz="3200">
                <a:sym typeface="+mn-ea"/>
              </a:rPr>
              <a:t>型绵羊乳</a:t>
            </a:r>
            <a:r>
              <a:rPr lang="en-US" altLang="zh-CN" sz="3200">
                <a:sym typeface="+mn-ea"/>
              </a:rPr>
              <a:t> · </a:t>
            </a:r>
            <a:r>
              <a:rPr lang="zh-CN" altLang="en-US" sz="3200">
                <a:sym typeface="+mn-ea"/>
              </a:rPr>
              <a:t>免疫</a:t>
            </a:r>
            <a:r>
              <a:rPr lang="en-US" altLang="zh-CN" sz="3200">
                <a:sym typeface="+mn-ea"/>
              </a:rPr>
              <a:t>+</a:t>
            </a:r>
            <a:r>
              <a:rPr lang="zh-CN" altLang="en-US" sz="3200">
                <a:sym typeface="+mn-ea"/>
              </a:rPr>
              <a:t>肠道健康双重提升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4455160"/>
          </a:xfrm>
        </p:spPr>
        <p:txBody>
          <a:bodyPr>
            <a:normAutofit/>
          </a:bodyPr>
          <a:p>
            <a:pPr marL="0" algn="l">
              <a:spcAft>
                <a:spcPts val="0"/>
              </a:spcAft>
              <a:buClrTx/>
              <a:buSzTx/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2.4</a:t>
            </a: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奶源背书：新西兰天蕴绵羊乳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5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2.4.1产地与品种：</a:t>
            </a:r>
            <a:endParaRPr lang="en-US" altLang="zh-CN" sz="15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来自新西兰政府持股企业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禧兰羊品种（历时7年繁育）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开放牧场、草饲喂养</a:t>
            </a:r>
            <a:endParaRPr lang="en-US" altLang="zh-CN" sz="1500"/>
          </a:p>
          <a:p>
            <a:pPr marL="0" indent="0" algn="l">
              <a:spcBef>
                <a:spcPts val="60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5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2.4.2认证体系：</a:t>
            </a:r>
            <a:endParaRPr lang="en-US" altLang="zh-CN" sz="15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MPI（新西兰政府监管认证）：官方监管食品/农业安全、出口合规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AsureQuality：第三方质量认证，从农场到货架的全链条食品安全认证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New Zealand FernMark Licence：新西兰国家原产认证，“国家名片”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NZFOODAWARDS 2017 Supreme Winner：新西兰食品行业顶级奖项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World Dairy Innovation Awards 2021 Winner：全球乳业创新奖项</a:t>
            </a:r>
            <a:endParaRPr lang="en-US" altLang="zh-CN" sz="1500"/>
          </a:p>
          <a:p>
            <a:pPr marL="0" algn="l">
              <a:spcAft>
                <a:spcPts val="0"/>
              </a:spcAft>
              <a:buClrTx/>
              <a:buSzTx/>
            </a:pPr>
            <a:r>
              <a:rPr lang="en-US" altLang="zh-CN" sz="1500"/>
              <a:t>NZFAP：新西兰农场端认证，保障可追溯性与动物福利</a:t>
            </a:r>
            <a:endParaRPr lang="en-US" altLang="zh-CN" sz="15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/>
              <a:t>卖点</a:t>
            </a:r>
            <a:r>
              <a:rPr lang="en-US" altLang="zh-CN" sz="3200"/>
              <a:t>3</a:t>
            </a:r>
            <a:r>
              <a:rPr lang="zh-CN" altLang="en-US" sz="3200"/>
              <a:t>：</a:t>
            </a:r>
            <a:r>
              <a:rPr lang="en-US" altLang="zh-CN" sz="3200"/>
              <a:t>95%</a:t>
            </a:r>
            <a:r>
              <a:rPr lang="zh-CN" altLang="en-US" sz="3200"/>
              <a:t>以上高动物性原料</a:t>
            </a:r>
            <a:r>
              <a:rPr lang="en-US" altLang="zh-CN" sz="3200"/>
              <a:t> · </a:t>
            </a:r>
            <a:r>
              <a:rPr lang="zh-CN" altLang="en-US" sz="3200"/>
              <a:t>还原肉食天性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3894455"/>
            <a:ext cx="10968990" cy="927735"/>
          </a:xfrm>
        </p:spPr>
        <p:txBody>
          <a:bodyPr>
            <a:normAutofit lnSpcReduction="10000"/>
          </a:bodyPr>
          <a:p>
            <a:pPr marL="57150" indent="-285750" algn="l">
              <a:spcAft>
                <a:spcPts val="0"/>
              </a:spcAft>
              <a:buClrTx/>
              <a:buSzTx/>
            </a:pPr>
            <a:r>
              <a:rPr lang="zh-CN" altLang="en-US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生骨肉配方</a:t>
            </a: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</a:t>
            </a:r>
            <a:r>
              <a:rPr lang="zh-CN" altLang="en-US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均衡蛋白配比</a:t>
            </a: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</a:t>
            </a:r>
            <a:r>
              <a:rPr lang="zh-CN" altLang="en-US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低敏肉源狗狗吃更好消化</a:t>
            </a: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、</a:t>
            </a:r>
            <a:r>
              <a:rPr lang="zh-CN" altLang="en-US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更安心</a:t>
            </a:r>
            <a:endParaRPr lang="zh-CN" altLang="en-US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256030" y="1644015"/>
          <a:ext cx="8966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245"/>
                <a:gridCol w="2468245"/>
                <a:gridCol w="4029710"/>
              </a:tblGrid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solidFill>
                            <a:schemeClr val="tx1"/>
                          </a:solidFill>
                        </a:rPr>
                        <a:t>配方</a:t>
                      </a: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solidFill>
                            <a:schemeClr val="tx1"/>
                          </a:solidFill>
                        </a:rPr>
                        <a:t>鲜鸡胸肉含量</a:t>
                      </a: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>
                          <a:solidFill>
                            <a:schemeClr val="tx1"/>
                          </a:solidFill>
                        </a:rPr>
                        <a:t>动物性原料总计</a:t>
                      </a: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鸡肉鸽肉</a:t>
                      </a:r>
                      <a:r>
                        <a:rPr lang="en-US" altLang="en-US" sz="1600"/>
                        <a:t>配方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42%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≥89%（含鲜肉、内脏、羊乳）</a:t>
                      </a:r>
                      <a:endParaRPr lang="en-US" altLang="en-US" sz="1600"/>
                    </a:p>
                    <a:p>
                      <a:pPr algn="ctr">
                        <a:buNone/>
                      </a:pP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鸡肉兔肉</a:t>
                      </a:r>
                      <a:r>
                        <a:rPr lang="en-US" altLang="en-US" sz="1600"/>
                        <a:t>配方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42%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/>
                        <a:t>≥89%（含鲜肉、内脏、羊乳）</a:t>
                      </a:r>
                      <a:endParaRPr lang="en-US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/>
              <a:t>卖点</a:t>
            </a:r>
            <a:r>
              <a:rPr lang="en-US" altLang="zh-CN" sz="3200"/>
              <a:t>4</a:t>
            </a:r>
            <a:r>
              <a:rPr lang="zh-CN" altLang="en-US" sz="3200"/>
              <a:t>：天然功能组合</a:t>
            </a:r>
            <a:r>
              <a:rPr lang="en-US" altLang="zh-CN" sz="3200"/>
              <a:t> · </a:t>
            </a:r>
            <a:r>
              <a:rPr lang="zh-CN" altLang="en-US" sz="3200"/>
              <a:t>精准健康呵护</a:t>
            </a:r>
            <a:endParaRPr lang="zh-CN" altLang="en-US" sz="3200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330" y="1447165"/>
            <a:ext cx="10968990" cy="11944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eaLnBrk="1">
              <a:lnSpc>
                <a:spcPct val="13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6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3.2天然果蔬添加 </a:t>
            </a:r>
            <a:endParaRPr lang="en-US" altLang="zh-CN" sz="16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marL="0" indent="0" algn="l" defTabSz="266700" ea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ym typeface="+mn-ea"/>
              </a:rPr>
              <a:t>添加新鲜南瓜：补充天然粗纤维，促进肠道蠕动，帮助顺畅排便，减少便秘困扰。</a:t>
            </a:r>
            <a:endParaRPr lang="zh-CN" altLang="en-US" sz="1500">
              <a:sym typeface="+mn-ea"/>
            </a:endParaRPr>
          </a:p>
          <a:p>
            <a:pPr marL="0" indent="0" algn="l" defTabSz="266700" ea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>
                <a:sym typeface="+mn-ea"/>
              </a:rPr>
              <a:t>添加胡萝卜、苹果、山药、青豆：补充维生素</a:t>
            </a:r>
            <a:r>
              <a:rPr lang="en-US" altLang="zh-CN" sz="1500">
                <a:sym typeface="+mn-ea"/>
              </a:rPr>
              <a:t>，</a:t>
            </a:r>
            <a:r>
              <a:rPr lang="zh-CN" altLang="en-US" sz="1500">
                <a:sym typeface="+mn-ea"/>
              </a:rPr>
              <a:t>均衡日常营养</a:t>
            </a:r>
            <a:endParaRPr lang="zh-CN" altLang="en-US" sz="1500">
              <a:sym typeface="+mn-ea"/>
            </a:endParaRPr>
          </a:p>
          <a:p>
            <a:pPr marL="0" indent="0" algn="l" defTabSz="266700" ea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5</a:t>
            </a:r>
            <a:r>
              <a:rPr lang="zh-CN" altLang="en-US" sz="3200">
                <a:sym typeface="+mn-ea"/>
              </a:rPr>
              <a:t>：双层质地设计</a:t>
            </a:r>
            <a:r>
              <a:rPr lang="en-US" altLang="zh-CN" sz="3200">
                <a:sym typeface="+mn-ea"/>
              </a:rPr>
              <a:t> · </a:t>
            </a:r>
            <a:r>
              <a:rPr lang="zh-CN" altLang="en-US" sz="3200">
                <a:sym typeface="+mn-ea"/>
              </a:rPr>
              <a:t>满足舔</a:t>
            </a:r>
            <a:r>
              <a:rPr lang="en-US" altLang="zh-CN" sz="3200">
                <a:sym typeface="+mn-ea"/>
              </a:rPr>
              <a:t>+</a:t>
            </a:r>
            <a:r>
              <a:rPr lang="zh-CN" altLang="en-US" sz="3200">
                <a:sym typeface="+mn-ea"/>
              </a:rPr>
              <a:t>嚼双重口感</a:t>
            </a:r>
            <a:r>
              <a:rPr lang="zh-CN" altLang="en-US" sz="3200">
                <a:sym typeface="+mn-ea"/>
              </a:rPr>
              <a:t>体验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marR="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1500">
                <a:sym typeface="Helvetica Neue" panose="02000503000000020004"/>
              </a:rPr>
              <a:t>犬：</a:t>
            </a:r>
            <a:endParaRPr kumimoji="0" lang="en-US" altLang="zh-CN" sz="1500" i="0" u="none" strike="noStrike" cap="none" normalizeH="0" baseline="0">
              <a:uFillTx/>
              <a:sym typeface="Helvetica Neue" panose="02000503000000020004"/>
            </a:endParaRPr>
          </a:p>
          <a:p>
            <a:pPr marL="571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500">
                <a:sym typeface="Helvetica Neue" panose="02000503000000020004"/>
              </a:rPr>
              <a:t>上层添加果蔬大肉粒</a:t>
            </a:r>
            <a:r>
              <a:rPr lang="en-US" altLang="zh-CN" sz="1500">
                <a:sym typeface="Helvetica Neue" panose="02000503000000020004"/>
              </a:rPr>
              <a:t>，</a:t>
            </a:r>
            <a:r>
              <a:rPr lang="zh-CN" altLang="en-US" sz="1500">
                <a:sym typeface="Helvetica Neue" panose="02000503000000020004"/>
              </a:rPr>
              <a:t>真材实料</a:t>
            </a:r>
            <a:r>
              <a:rPr lang="en-US" altLang="zh-CN" sz="1500">
                <a:sym typeface="Helvetica Neue" panose="02000503000000020004"/>
              </a:rPr>
              <a:t>，</a:t>
            </a:r>
            <a:r>
              <a:rPr lang="zh-CN" altLang="en-US" sz="1500">
                <a:sym typeface="Helvetica Neue" panose="02000503000000020004"/>
              </a:rPr>
              <a:t>满足狗狗咀嚼天性</a:t>
            </a:r>
            <a:r>
              <a:rPr lang="en-US" altLang="zh-CN" sz="1500">
                <a:sym typeface="Helvetica Neue" panose="02000503000000020004"/>
              </a:rPr>
              <a:t>；</a:t>
            </a:r>
            <a:r>
              <a:rPr lang="zh-CN" altLang="en-US" sz="1500">
                <a:sym typeface="Helvetica Neue" panose="02000503000000020004"/>
              </a:rPr>
              <a:t>下层丝滑肉泥</a:t>
            </a:r>
            <a:r>
              <a:rPr lang="en-US" altLang="zh-CN" sz="1500">
                <a:sym typeface="Helvetica Neue" panose="02000503000000020004"/>
              </a:rPr>
              <a:t>，</a:t>
            </a:r>
            <a:r>
              <a:rPr lang="zh-CN" altLang="en-US" sz="1500">
                <a:sym typeface="Helvetica Neue" panose="02000503000000020004"/>
              </a:rPr>
              <a:t>满足舔舔</a:t>
            </a:r>
            <a:r>
              <a:rPr lang="zh-CN" altLang="en-US" sz="1500">
                <a:sym typeface="Helvetica Neue" panose="02000503000000020004"/>
              </a:rPr>
              <a:t>乐趣</a:t>
            </a:r>
            <a:endParaRPr lang="zh-CN" altLang="en-US" sz="1500">
              <a:sym typeface="Helvetica Neue" panose="02000503000000020004"/>
            </a:endParaRPr>
          </a:p>
          <a:p>
            <a:pPr marL="57150" marR="0" indent="-285750" algn="l" defTabSz="914400" rtl="0" ea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500">
                <a:sym typeface="Helvetica Neue" panose="02000503000000020004"/>
              </a:rPr>
              <a:t>双重口感体验</a:t>
            </a:r>
            <a:r>
              <a:rPr lang="en-US" altLang="zh-CN" sz="1500">
                <a:sym typeface="Helvetica Neue" panose="02000503000000020004"/>
              </a:rPr>
              <a:t>，</a:t>
            </a:r>
            <a:r>
              <a:rPr lang="zh-CN" altLang="en-US" sz="1500">
                <a:sym typeface="Helvetica Neue" panose="02000503000000020004"/>
              </a:rPr>
              <a:t>吃饭</a:t>
            </a:r>
            <a:r>
              <a:rPr lang="zh-CN" altLang="en-US" sz="1500">
                <a:sym typeface="Helvetica Neue" panose="02000503000000020004"/>
              </a:rPr>
              <a:t>仪式感满满</a:t>
            </a:r>
            <a:endParaRPr lang="zh-CN" altLang="en-US" sz="1500">
              <a:sym typeface="Helvetica Neue" panose="02000503000000020004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>
                <a:sym typeface="+mn-ea"/>
              </a:rPr>
              <a:t>卖点</a:t>
            </a:r>
            <a:r>
              <a:rPr lang="en-US" altLang="zh-CN" sz="3200">
                <a:sym typeface="+mn-ea"/>
              </a:rPr>
              <a:t>6</a:t>
            </a:r>
            <a:r>
              <a:rPr lang="zh-CN" altLang="en-US" sz="3200">
                <a:sym typeface="+mn-ea"/>
              </a:rPr>
              <a:t>：小杯装</a:t>
            </a:r>
            <a:r>
              <a:rPr lang="en-US" altLang="zh-CN" sz="3200">
                <a:sym typeface="+mn-ea"/>
              </a:rPr>
              <a:t> + </a:t>
            </a:r>
            <a:r>
              <a:rPr lang="zh-CN" altLang="en-US" sz="3200">
                <a:sym typeface="+mn-ea"/>
              </a:rPr>
              <a:t>易撕</a:t>
            </a:r>
            <a:r>
              <a:rPr lang="zh-CN" altLang="en-US" sz="3200">
                <a:sym typeface="+mn-ea"/>
              </a:rPr>
              <a:t>拉设计</a:t>
            </a:r>
            <a:r>
              <a:rPr lang="en-US" altLang="zh-CN" sz="3200">
                <a:sym typeface="+mn-ea"/>
              </a:rPr>
              <a:t>，</a:t>
            </a:r>
            <a:r>
              <a:rPr lang="zh-CN" altLang="en-US" sz="3200">
                <a:sym typeface="+mn-ea"/>
              </a:rPr>
              <a:t>便捷喂食</a:t>
            </a:r>
            <a:r>
              <a:rPr lang="zh-CN" altLang="en-US" sz="3200">
                <a:sym typeface="+mn-ea"/>
              </a:rPr>
              <a:t>不浪费</a:t>
            </a:r>
            <a:endParaRPr lang="zh-CN" altLang="en-US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80g</a:t>
            </a:r>
            <a:r>
              <a:rPr lang="zh-CN" altLang="en-US">
                <a:sym typeface="+mn-ea"/>
              </a:rPr>
              <a:t>小杯装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一餐一杯，不剩饭、不浪费</a:t>
            </a:r>
            <a:endParaRPr lang="zh-CN" altLang="en-US"/>
          </a:p>
          <a:p>
            <a:r>
              <a:rPr lang="zh-CN" altLang="en-US">
                <a:sym typeface="+mn-ea"/>
              </a:rPr>
              <a:t>易撕膜设计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美甲也能轻松撕开</a:t>
            </a:r>
            <a:endParaRPr lang="zh-CN" altLang="en-US"/>
          </a:p>
          <a:p>
            <a:r>
              <a:rPr lang="zh-CN" altLang="en-US">
                <a:sym typeface="+mn-ea"/>
              </a:rPr>
              <a:t>常温</a:t>
            </a:r>
            <a:r>
              <a:rPr lang="en-US" altLang="zh-CN">
                <a:sym typeface="+mn-ea"/>
              </a:rPr>
              <a:t>18</a:t>
            </a:r>
            <a:r>
              <a:rPr lang="zh-CN" altLang="en-US">
                <a:sym typeface="+mn-ea"/>
              </a:rPr>
              <a:t>个月保存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无需冷藏，方便囤货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WPS 演示</Application>
  <PresentationFormat>宽屏</PresentationFormat>
  <Paragraphs>120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汉仪旗黑</vt:lpstr>
      <vt:lpstr>Helvetica Neue</vt:lpstr>
      <vt:lpstr>PingFang SC Semibold</vt:lpstr>
      <vt:lpstr>PingFang SC</vt:lpstr>
      <vt:lpstr>苹方-简</vt:lpstr>
      <vt:lpstr>微软雅黑</vt:lpstr>
      <vt:lpstr>汉仪书宋二KW</vt:lpstr>
      <vt:lpstr>宋体</vt:lpstr>
      <vt:lpstr>Arial Unicode MS</vt:lpstr>
      <vt:lpstr>Helvetica Neue</vt:lpstr>
      <vt:lpstr>宋体</vt:lpstr>
      <vt:lpstr>WPS</vt:lpstr>
      <vt:lpstr>食物链双萃杯卖点整合</vt:lpstr>
      <vt:lpstr>一、产品基础信息</vt:lpstr>
      <vt:lpstr>二、产品卖点</vt:lpstr>
      <vt:lpstr>卖点1：0添加剂组成·天然食材实现全价营养</vt:lpstr>
      <vt:lpstr>卖点2：A2型绵羊乳添加，免疫+肠道健康双重提升</vt:lpstr>
      <vt:lpstr>卖点2：A2型绵羊乳 · 免疫+肠道健康双重提升</vt:lpstr>
      <vt:lpstr>卖点3：95%以上高动物性原料 · 还原肉食天性</vt:lpstr>
      <vt:lpstr>卖点4：天然功能组合 · 精准健康呵护</vt:lpstr>
      <vt:lpstr>卖点5：双层质地设计 · 满足舔+嚼双重口感体验</vt:lpstr>
      <vt:lpstr>卖点6：小杯装 + 易撕拉设计，便捷喂食不浪费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J0ey</cp:lastModifiedBy>
  <cp:revision>168</cp:revision>
  <dcterms:created xsi:type="dcterms:W3CDTF">2026-04-08T03:21:41Z</dcterms:created>
  <dcterms:modified xsi:type="dcterms:W3CDTF">2026-04-08T03:21:41Z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19A8573FF1079D67B6B5D56986720F9B_41</vt:lpwstr>
  </property>
</Properties>
</file>