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65" r:id="rId5"/>
    <p:sldId id="258" r:id="rId6"/>
    <p:sldId id="259" r:id="rId7"/>
    <p:sldId id="260" r:id="rId8"/>
    <p:sldId id="261" r:id="rId9"/>
    <p:sldId id="266" r:id="rId10"/>
    <p:sldId id="263" r:id="rId11"/>
    <p:sldId id="26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食物链双萃杯卖点</a:t>
            </a:r>
            <a:r>
              <a:rPr lang="zh-CN" altLang="zh-CN"/>
              <a:t>整合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——</a:t>
            </a:r>
            <a:r>
              <a:rPr lang="zh-CN" altLang="en-US"/>
              <a:t>猫用</a:t>
            </a:r>
            <a:r>
              <a:rPr lang="zh-CN" altLang="en-US"/>
              <a:t>款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一、产品基础信息</a:t>
            </a:r>
            <a:r>
              <a:rPr lang="en-US" altLang="zh-CN">
                <a:sym typeface="+mn-ea"/>
              </a:rPr>
              <a:t>—</a:t>
            </a:r>
            <a:r>
              <a:rPr lang="zh-CN" altLang="en-US">
                <a:sym typeface="+mn-ea"/>
              </a:rPr>
              <a:t>全价猫用湿粮</a:t>
            </a:r>
            <a:endParaRPr lang="zh-CN" altLang="en-US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8330" y="1515745"/>
            <a:ext cx="4517390" cy="29933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anchorCtr="0" forceAA="0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0" dirty="0">
                <a:latin typeface="微软雅黑" pitchFamily="34" charset="0"/>
                <a:ea typeface="微软雅黑" pitchFamily="34" charset="0"/>
                <a:sym typeface="Helvetica Neue" panose="02000503000000020004"/>
              </a:rPr>
              <a:t>口味配方：鸡肉南瓜配方、鸡肉兔肉配方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0"/>
              <a:ea typeface="微软雅黑" pitchFamily="34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产品规格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：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单塑杯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50g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0"/>
              <a:ea typeface="微软雅黑" pitchFamily="34" charset="0"/>
              <a:cs typeface="微软雅黑" pitchFamily="34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售卖规格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：300g 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盒装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 50g*6</a:t>
            </a:r>
            <a:endParaRPr lang="en-US" altLang="zh-CN" sz="1600" b="0" dirty="0">
              <a:latin typeface="微软雅黑" pitchFamily="34" charset="0"/>
              <a:ea typeface="微软雅黑" pitchFamily="34" charset="0"/>
              <a:cs typeface="微软雅黑" pitchFamily="34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                 300g  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二合一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 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混合盒装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 50g*6</a:t>
            </a:r>
            <a:endParaRPr kumimoji="0" lang="en-US" altLang="zh-CN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0"/>
              <a:ea typeface="微软雅黑" pitchFamily="34" charset="0"/>
              <a:cs typeface="微软雅黑" pitchFamily="34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 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赠送规格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：100g 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二合一混合盒装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 50g*2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0"/>
              <a:ea typeface="微软雅黑" pitchFamily="34" charset="0"/>
              <a:cs typeface="微软雅黑" pitchFamily="34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适用对象：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4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月龄以上全猫种</a:t>
            </a:r>
            <a:endParaRPr lang="zh-CN" altLang="en-US" sz="1600" b="0" dirty="0">
              <a:latin typeface="微软雅黑" pitchFamily="34" charset="0"/>
              <a:ea typeface="微软雅黑" pitchFamily="34" charset="0"/>
              <a:cs typeface="微软雅黑" pitchFamily="34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保质期限：常温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18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个月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(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未开封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)</a:t>
            </a:r>
            <a:endParaRPr lang="en-US" altLang="zh-CN" sz="1600" b="0" dirty="0">
              <a:latin typeface="微软雅黑" pitchFamily="34" charset="0"/>
              <a:ea typeface="微软雅黑" pitchFamily="34" charset="0"/>
              <a:cs typeface="微软雅黑" pitchFamily="34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杀菌工艺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：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高温杀菌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0"/>
              <a:ea typeface="微软雅黑" pitchFamily="34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0"/>
              <a:ea typeface="微软雅黑" pitchFamily="34" charset="0"/>
              <a:cs typeface="Helvetica Neue" panose="02000503000000020004"/>
              <a:sym typeface="Helvetica Neue" panose="02000503000000020004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二、产品</a:t>
            </a:r>
            <a:r>
              <a:rPr lang="zh-CN" altLang="en-US">
                <a:sym typeface="+mn-ea"/>
              </a:rPr>
              <a:t>卖点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330" y="1313815"/>
            <a:ext cx="8559800" cy="1713230"/>
          </a:xfrm>
          <a:prstGeom prst="rect">
            <a:avLst/>
          </a:prstGeom>
        </p:spPr>
        <p:txBody>
          <a:bodyPr>
            <a:noAutofit/>
          </a:bodyPr>
          <a:p>
            <a:pPr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</a:pPr>
            <a:r>
              <a:rPr lang="en-US" altLang="zh-CN" sz="1600" b="1" i="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卖点分为三个层级：</a:t>
            </a:r>
            <a:endParaRPr lang="en-US" altLang="zh-CN" sz="1600" b="1" i="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285750" indent="-28575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1600" i="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核心USP，最具差异化、最难复制：卖点1、卖点2</a:t>
            </a:r>
            <a:endParaRPr lang="en-US" altLang="zh-CN" sz="1600" i="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85750" indent="-28575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1600" i="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功能卖点，可感知的健康价值：卖点3、</a:t>
            </a:r>
            <a:r>
              <a:rPr lang="en-US" altLang="zh-CN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卖点4</a:t>
            </a:r>
            <a:endParaRPr lang="en-US" altLang="zh-CN" sz="1600" i="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85750" indent="-28575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1600" i="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体验卖点：使用场景与感官体验：卖点5、</a:t>
            </a:r>
            <a:r>
              <a:rPr lang="en-US" altLang="zh-CN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卖点6</a:t>
            </a:r>
            <a:endParaRPr lang="en-US" altLang="zh-CN" sz="1600" i="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85750" indent="-28575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endParaRPr lang="en-US" altLang="zh-CN" sz="1600" i="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>
                <a:sym typeface="+mn-ea"/>
              </a:rPr>
              <a:t>卖点</a:t>
            </a:r>
            <a:r>
              <a:rPr lang="en-US" altLang="zh-CN" sz="3200">
                <a:sym typeface="+mn-ea"/>
              </a:rPr>
              <a:t>1</a:t>
            </a:r>
            <a:r>
              <a:rPr lang="zh-CN" altLang="en-US" sz="3200">
                <a:sym typeface="+mn-ea"/>
              </a:rPr>
              <a:t>：</a:t>
            </a:r>
            <a:r>
              <a:rPr lang="en-US" altLang="zh-CN" sz="3200">
                <a:sym typeface="+mn-ea"/>
              </a:rPr>
              <a:t>0</a:t>
            </a:r>
            <a:r>
              <a:rPr lang="zh-CN" altLang="en-US" sz="3200">
                <a:sym typeface="+mn-ea"/>
              </a:rPr>
              <a:t>添加剂组成</a:t>
            </a:r>
            <a:r>
              <a:rPr lang="en-US" altLang="zh-CN" sz="3200">
                <a:sym typeface="+mn-ea"/>
              </a:rPr>
              <a:t>·</a:t>
            </a:r>
            <a:r>
              <a:rPr lang="zh-CN" altLang="en-US" sz="3200">
                <a:sym typeface="+mn-ea"/>
              </a:rPr>
              <a:t>天然食材实现全价营养</a:t>
            </a:r>
            <a:endParaRPr lang="zh-CN" altLang="en-US" sz="320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780395" cy="1593850"/>
          </a:xfrm>
        </p:spPr>
        <p:txBody>
          <a:bodyPr>
            <a:noAutofit/>
          </a:bodyPr>
          <a:p>
            <a:pPr marL="0" indent="0">
              <a:spcAft>
                <a:spcPts val="0"/>
              </a:spcAft>
              <a:buNone/>
            </a:pP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1.1 </a:t>
            </a:r>
            <a:r>
              <a:rPr lang="zh-CN" altLang="en-US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定义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1500"/>
              <a:t>配料表最后一行写着：</a:t>
            </a:r>
            <a:r>
              <a:rPr lang="en-US" altLang="zh-CN" sz="1500"/>
              <a:t>“</a:t>
            </a:r>
            <a:r>
              <a:rPr lang="zh-CN" altLang="en-US" sz="1500"/>
              <a:t>添加剂组成：无</a:t>
            </a:r>
            <a:r>
              <a:rPr lang="en-US" altLang="zh-CN" sz="1500"/>
              <a:t>”</a:t>
            </a:r>
            <a:endParaRPr lang="en-US" altLang="zh-CN" sz="1500"/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1500"/>
              <a:t>这意味着：无人工矿物质预混料（硫酸锌、硫酸铜等）</a:t>
            </a:r>
            <a:r>
              <a:rPr lang="en-US" altLang="zh-CN" sz="1500"/>
              <a:t>、</a:t>
            </a:r>
            <a:r>
              <a:rPr lang="zh-CN" altLang="en-US" sz="1500"/>
              <a:t>无人工维生素预混料</a:t>
            </a:r>
            <a:r>
              <a:rPr lang="en-US" altLang="zh-CN" sz="1500"/>
              <a:t>、</a:t>
            </a:r>
            <a:r>
              <a:rPr lang="zh-CN" altLang="en-US" sz="1500"/>
              <a:t>无人工牛磺酸</a:t>
            </a:r>
            <a:r>
              <a:rPr lang="en-US" altLang="zh-CN" sz="1500"/>
              <a:t>、</a:t>
            </a:r>
            <a:r>
              <a:rPr lang="zh-CN" altLang="en-US" sz="1500"/>
              <a:t>无胶质</a:t>
            </a:r>
            <a:r>
              <a:rPr lang="en-US" altLang="zh-CN" sz="1500"/>
              <a:t>/</a:t>
            </a:r>
            <a:r>
              <a:rPr lang="zh-CN" altLang="en-US" sz="1500"/>
              <a:t>诱食剂</a:t>
            </a:r>
            <a:r>
              <a:rPr lang="en-US" altLang="zh-CN" sz="1500"/>
              <a:t>/</a:t>
            </a:r>
            <a:r>
              <a:rPr lang="zh-CN" altLang="en-US" sz="1500"/>
              <a:t>无防腐剂</a:t>
            </a:r>
            <a:r>
              <a:rPr lang="en-US" altLang="zh-CN" sz="1500"/>
              <a:t>/</a:t>
            </a:r>
            <a:r>
              <a:rPr lang="zh-CN" altLang="en-US" sz="1500"/>
              <a:t>无色素</a:t>
            </a:r>
            <a:endParaRPr lang="zh-CN" altLang="en-US" sz="1500"/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1500"/>
              <a:t>全部营养，</a:t>
            </a:r>
            <a:r>
              <a:rPr lang="en-US" altLang="zh-CN" sz="1500"/>
              <a:t>100%</a:t>
            </a:r>
            <a:r>
              <a:rPr lang="zh-CN" altLang="en-US" sz="1500"/>
              <a:t>来自天然食材本身。</a:t>
            </a:r>
            <a:endParaRPr lang="en-US" altLang="zh-CN" sz="1500"/>
          </a:p>
          <a:p>
            <a:pPr marL="0" indent="0">
              <a:buNone/>
            </a:pPr>
            <a:endParaRPr lang="en-US" altLang="zh-CN" sz="1500"/>
          </a:p>
        </p:txBody>
      </p:sp>
      <p:sp>
        <p:nvSpPr>
          <p:cNvPr id="7" name="文本框 6"/>
          <p:cNvSpPr txBox="1"/>
          <p:nvPr/>
        </p:nvSpPr>
        <p:spPr>
          <a:xfrm>
            <a:off x="608330" y="3390900"/>
            <a:ext cx="10781030" cy="15424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</a:pPr>
            <a:r>
              <a:rPr lang="en-US" altLang="zh-CN" sz="1600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1.2 为什么难做到</a:t>
            </a:r>
            <a:endParaRPr lang="en-US" altLang="zh-CN" sz="1600" b="1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大多数主食罐为了保证“全价营养”，会添加人工矿物质、人工维生素、人工牛磺酸等预混料。</a:t>
            </a:r>
            <a:endParaRPr lang="zh-CN" altLang="en-US" sz="1500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+mn-ea"/>
            </a:endParaRPr>
          </a:p>
          <a:p>
            <a:pPr mar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原因：成本低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供应链稳定容易精准控制营养指标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用天然食材替代需要：精选特定食材（如鸡心补牛磺酸）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、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精准配方搭配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、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更高的品控要求</a:t>
            </a:r>
            <a:endParaRPr lang="zh-CN" altLang="en-US" sz="1500" spc="150">
              <a:solidFill>
                <a:schemeClr val="tx1">
                  <a:lumMod val="65000"/>
                  <a:lumOff val="35000"/>
                </a:schemeClr>
              </a:solidFill>
              <a:uFillTx/>
            </a:endParaRPr>
          </a:p>
          <a:p>
            <a:pPr marL="0" indent="0">
              <a:buNone/>
            </a:pPr>
            <a:endParaRPr lang="zh-CN" altLang="en-US" sz="1500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330" y="5029835"/>
            <a:ext cx="7912100" cy="6419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</a:pPr>
            <a:r>
              <a:rPr lang="en-US" altLang="zh-CN" sz="1600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1.3符合《清洁标签食品真实性评价指南》最高标准</a:t>
            </a:r>
            <a:endParaRPr lang="en-US" altLang="zh-CN" sz="1600" b="1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配料简洁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天然优先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非必要不添加化学合成添加剂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加工透明、标签易懂</a:t>
            </a:r>
            <a:endParaRPr lang="zh-CN" altLang="en-US" sz="1500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11400155" cy="705485"/>
          </a:xfrm>
        </p:spPr>
        <p:txBody>
          <a:bodyPr/>
          <a:p>
            <a:r>
              <a:rPr lang="zh-CN" altLang="en-US" sz="3200"/>
              <a:t>卖点</a:t>
            </a:r>
            <a:r>
              <a:rPr lang="en-US" altLang="zh-CN" sz="3200"/>
              <a:t>2</a:t>
            </a:r>
            <a:r>
              <a:rPr lang="zh-CN" altLang="en-US" sz="3200"/>
              <a:t>：</a:t>
            </a:r>
            <a:r>
              <a:rPr lang="en-US" altLang="zh-CN" sz="3200"/>
              <a:t>A2</a:t>
            </a:r>
            <a:r>
              <a:rPr lang="zh-CN" altLang="en-US" sz="3200"/>
              <a:t>型绵羊乳添加</a:t>
            </a:r>
            <a:r>
              <a:rPr lang="en-US" altLang="zh-CN" sz="3200"/>
              <a:t>，</a:t>
            </a:r>
            <a:r>
              <a:rPr lang="zh-CN" altLang="en-US" sz="3200"/>
              <a:t>免疫</a:t>
            </a:r>
            <a:r>
              <a:rPr lang="en-US" altLang="zh-CN" sz="3200"/>
              <a:t>+</a:t>
            </a:r>
            <a:r>
              <a:rPr lang="zh-CN" altLang="en-US" sz="3200"/>
              <a:t>肠道健康双重提升</a:t>
            </a:r>
            <a:endParaRPr lang="zh-CN" altLang="en-US" sz="3200"/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237615"/>
            <a:ext cx="10780395" cy="1593850"/>
          </a:xfrm>
        </p:spPr>
        <p:txBody>
          <a:bodyPr>
            <a:noAutofit/>
          </a:bodyPr>
          <a:p>
            <a:pPr marL="0" algn="l">
              <a:spcAft>
                <a:spcPts val="0"/>
              </a:spcAft>
              <a:buClrTx/>
              <a:buSzTx/>
              <a:buNone/>
            </a:pP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2.1 什么是A2奶？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1500"/>
              <a:t>奶中的</a:t>
            </a:r>
            <a:r>
              <a:rPr lang="en-US" altLang="zh-CN" sz="1500"/>
              <a:t>β-</a:t>
            </a:r>
            <a:r>
              <a:rPr lang="zh-CN" altLang="en-US" sz="1500"/>
              <a:t>酪蛋白分为</a:t>
            </a:r>
            <a:r>
              <a:rPr lang="en-US" altLang="zh-CN" sz="1500"/>
              <a:t>A1</a:t>
            </a:r>
            <a:r>
              <a:rPr lang="zh-CN" altLang="en-US" sz="1500"/>
              <a:t>型和</a:t>
            </a:r>
            <a:r>
              <a:rPr lang="en-US" altLang="zh-CN" sz="1500"/>
              <a:t>A2</a:t>
            </a:r>
            <a:r>
              <a:rPr lang="zh-CN" altLang="en-US" sz="1500"/>
              <a:t>型</a:t>
            </a:r>
            <a:endParaRPr lang="zh-CN" altLang="en-US" sz="1500"/>
          </a:p>
          <a:p>
            <a:pPr>
              <a:spcAft>
                <a:spcPts val="0"/>
              </a:spcAft>
            </a:pPr>
            <a:r>
              <a:rPr lang="en-US" altLang="zh-CN" sz="1500"/>
              <a:t>A1</a:t>
            </a:r>
            <a:r>
              <a:rPr lang="zh-CN" altLang="en-US" sz="1500"/>
              <a:t>奶：消化会产生</a:t>
            </a:r>
            <a:r>
              <a:rPr lang="en-US" altLang="zh-CN" sz="1500"/>
              <a:t>BCM-7</a:t>
            </a:r>
            <a:r>
              <a:rPr lang="zh-CN" altLang="en-US" sz="1500"/>
              <a:t>（</a:t>
            </a:r>
            <a:r>
              <a:rPr lang="en-US" altLang="zh-CN" sz="1500"/>
              <a:t>β-</a:t>
            </a:r>
            <a:r>
              <a:rPr lang="zh-CN" altLang="en-US" sz="1500"/>
              <a:t>酪啡肽</a:t>
            </a:r>
            <a:r>
              <a:rPr lang="en-US" altLang="zh-CN" sz="1500"/>
              <a:t>-7</a:t>
            </a:r>
            <a:r>
              <a:rPr lang="zh-CN" altLang="en-US" sz="1500"/>
              <a:t>），一种阿片类肽，可能引发肠道不适、炎症反应，增加糖尿病风险、损害免疫系统</a:t>
            </a:r>
            <a:endParaRPr lang="zh-CN" altLang="en-US" sz="1500"/>
          </a:p>
          <a:p>
            <a:pPr>
              <a:spcAft>
                <a:spcPts val="0"/>
              </a:spcAft>
            </a:pPr>
            <a:r>
              <a:rPr lang="en-US" altLang="zh-CN" sz="1500"/>
              <a:t>A2</a:t>
            </a:r>
            <a:r>
              <a:rPr lang="zh-CN" altLang="en-US" sz="1500"/>
              <a:t>奶：几乎不产生</a:t>
            </a:r>
            <a:r>
              <a:rPr lang="en-US" altLang="zh-CN" sz="1500"/>
              <a:t>BCM-7</a:t>
            </a:r>
            <a:r>
              <a:rPr lang="zh-CN" altLang="en-US" sz="1500"/>
              <a:t>，更温和、更友好</a:t>
            </a:r>
            <a:endParaRPr lang="zh-CN" altLang="en-US" sz="1500"/>
          </a:p>
        </p:txBody>
      </p:sp>
      <p:sp>
        <p:nvSpPr>
          <p:cNvPr id="7" name="文本框 6"/>
          <p:cNvSpPr txBox="1"/>
          <p:nvPr/>
        </p:nvSpPr>
        <p:spPr>
          <a:xfrm>
            <a:off x="608330" y="2907665"/>
            <a:ext cx="10781030" cy="16116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</a:pPr>
            <a:r>
              <a:rPr lang="en-US" altLang="zh-CN" sz="1600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2.2 A2型β-酪蛋白的科学证据</a:t>
            </a:r>
            <a:endParaRPr lang="en-US" altLang="zh-CN" sz="1600" b="1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免疫提升：显著增加免疫球蛋白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IgG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、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IgM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、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IgA；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增强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IL-17A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、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TNF-α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、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IFN-γ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的产生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降低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IL-4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炎症因子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减轻免疫器官损伤</a:t>
            </a:r>
            <a:endParaRPr lang="zh-CN" altLang="en-US" sz="1500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+mn-ea"/>
            </a:endParaRPr>
          </a:p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肠道健康：增加有益菌丰度，减少有害菌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增加短链脂肪酸（乙酸、丙酸、丁酸）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改善肠道菌群紊乱</a:t>
            </a:r>
            <a:endParaRPr lang="zh-CN" altLang="en-US" sz="1500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+mn-ea"/>
            </a:endParaRPr>
          </a:p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整体改善：血清生化指标趋于健康值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明显改善生理状况</a:t>
            </a:r>
            <a:endParaRPr lang="zh-CN" altLang="en-US" sz="1500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8330" y="4565015"/>
            <a:ext cx="10689590" cy="2188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R="0" indent="-22860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</a:pPr>
            <a:r>
              <a:rPr lang="en-US" altLang="zh-CN" sz="1600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Helvetica Neue" panose="02000503000000020004"/>
              </a:rPr>
              <a:t>2.3绵羊奶相较普通牛奶优势</a:t>
            </a:r>
            <a:endParaRPr lang="en-US" altLang="zh-CN" sz="1600" b="1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Helvetica Neue" panose="02000503000000020004"/>
            </a:endParaRPr>
          </a:p>
          <a:p>
            <a:pPr marL="285750" marR="0" indent="-28575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绵羊乳中乳铁蛋白是普通牛乳的3.5倍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；</a:t>
            </a:r>
            <a:endParaRPr kumimoji="0" lang="zh-CN" altLang="en-US" sz="1500" i="0" u="none" strike="noStrike" cap="none" spc="150" normalizeH="0" baseline="0">
              <a:solidFill>
                <a:schemeClr val="tx1">
                  <a:lumMod val="65000"/>
                  <a:lumOff val="35000"/>
                </a:schemeClr>
              </a:solidFill>
              <a:uFillTx/>
              <a:sym typeface="Helvetica Neue" panose="02000503000000020004"/>
            </a:endParaRPr>
          </a:p>
          <a:p>
            <a:pPr marL="285750" marR="0" indent="-28575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绵羊奶中短链脂肪酸是普通牛奶的3倍，脂肪球也小于牛奶，更容易被猫咪吸收利用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；</a:t>
            </a:r>
            <a:endParaRPr kumimoji="0" lang="zh-CN" altLang="en-US" sz="1500" i="0" u="none" strike="noStrike" cap="none" spc="150" normalizeH="0" baseline="0">
              <a:solidFill>
                <a:schemeClr val="tx1">
                  <a:lumMod val="65000"/>
                  <a:lumOff val="35000"/>
                </a:schemeClr>
              </a:solidFill>
              <a:uFillTx/>
              <a:sym typeface="Helvetica Neue" panose="02000503000000020004"/>
            </a:endParaRPr>
          </a:p>
          <a:p>
            <a:pPr marL="285750" marR="0" indent="-28575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绵羊奶致敏率是牛奶的40分之一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；</a:t>
            </a:r>
            <a:endParaRPr kumimoji="0" lang="zh-CN" altLang="en-US" sz="1500" i="0" u="none" strike="noStrike" cap="none" spc="150" normalizeH="0" baseline="0">
              <a:solidFill>
                <a:schemeClr val="tx1">
                  <a:lumMod val="65000"/>
                  <a:lumOff val="35000"/>
                </a:schemeClr>
              </a:solidFill>
              <a:uFillTx/>
              <a:sym typeface="Helvetica Neue" panose="02000503000000020004"/>
            </a:endParaRPr>
          </a:p>
          <a:p>
            <a:pPr marL="285750" marR="0" indent="-28575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绵羊奶中酪蛋白胶团微粒较小，与牛奶相比更容易消化吸收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；</a:t>
            </a:r>
            <a:endParaRPr kumimoji="0" lang="zh-CN" altLang="en-US" sz="1500" i="0" u="none" strike="noStrike" cap="none" spc="150" normalizeH="0" baseline="0">
              <a:solidFill>
                <a:schemeClr val="tx1">
                  <a:lumMod val="65000"/>
                  <a:lumOff val="35000"/>
                </a:schemeClr>
              </a:solidFill>
              <a:uFillTx/>
              <a:sym typeface="Helvetica Neue" panose="02000503000000020004"/>
            </a:endParaRPr>
          </a:p>
          <a:p>
            <a:pPr marL="285750" marR="0" indent="-28575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在15种重要营养成分的摄取方面，绵羊奶在其中的12项显著优于牛奶和山羊奶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；</a:t>
            </a:r>
            <a:endParaRPr lang="zh-CN" altLang="en-US" sz="1500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Helvetica Neue" panose="02000503000000020004"/>
            </a:endParaRPr>
          </a:p>
          <a:p>
            <a:pPr marL="285750" marR="0" indent="-28575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草饲喂养的绵羊乳富含共轭亚油酸（CLA）,可以加速机体的脂肪转运，有利于抗炎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。</a:t>
            </a:r>
            <a:endParaRPr lang="en-US" altLang="zh-CN" sz="1500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Helvetica Neue" panose="02000503000000020004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>
                <a:sym typeface="+mn-ea"/>
              </a:rPr>
              <a:t>卖点</a:t>
            </a:r>
            <a:r>
              <a:rPr lang="en-US" altLang="zh-CN" sz="3200">
                <a:sym typeface="+mn-ea"/>
              </a:rPr>
              <a:t>2</a:t>
            </a:r>
            <a:r>
              <a:rPr lang="zh-CN" altLang="en-US" sz="3200">
                <a:sym typeface="+mn-ea"/>
              </a:rPr>
              <a:t>：</a:t>
            </a:r>
            <a:r>
              <a:rPr lang="en-US" altLang="zh-CN" sz="3200">
                <a:sym typeface="+mn-ea"/>
              </a:rPr>
              <a:t>A2</a:t>
            </a:r>
            <a:r>
              <a:rPr lang="zh-CN" altLang="en-US" sz="3200">
                <a:sym typeface="+mn-ea"/>
              </a:rPr>
              <a:t>型绵羊乳</a:t>
            </a:r>
            <a:r>
              <a:rPr lang="en-US" altLang="zh-CN" sz="3200">
                <a:sym typeface="+mn-ea"/>
              </a:rPr>
              <a:t> · </a:t>
            </a:r>
            <a:r>
              <a:rPr lang="zh-CN" altLang="en-US" sz="3200">
                <a:sym typeface="+mn-ea"/>
              </a:rPr>
              <a:t>免疫</a:t>
            </a:r>
            <a:r>
              <a:rPr lang="en-US" altLang="zh-CN" sz="3200">
                <a:sym typeface="+mn-ea"/>
              </a:rPr>
              <a:t>+</a:t>
            </a:r>
            <a:r>
              <a:rPr lang="zh-CN" altLang="en-US" sz="3200">
                <a:sym typeface="+mn-ea"/>
              </a:rPr>
              <a:t>肠道健康双重提升</a:t>
            </a:r>
            <a:endParaRPr lang="zh-CN" altLang="en-US" sz="320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4455160"/>
          </a:xfrm>
        </p:spPr>
        <p:txBody>
          <a:bodyPr>
            <a:normAutofit/>
          </a:bodyPr>
          <a:p>
            <a:pPr marL="0" algn="l">
              <a:spcAft>
                <a:spcPts val="0"/>
              </a:spcAft>
              <a:buClrTx/>
              <a:buSzTx/>
              <a:buNone/>
            </a:pP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2.4</a:t>
            </a: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奶源背书：新西兰天蕴绵羊乳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 algn="l">
              <a:spcBef>
                <a:spcPts val="60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15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2.4.1产地与品种：</a:t>
            </a:r>
            <a:endParaRPr lang="en-US" altLang="zh-CN" sz="15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来自新西兰政府持股企业</a:t>
            </a:r>
            <a:endParaRPr lang="en-US" altLang="zh-CN" sz="1500"/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禧兰羊品种（历时7年繁育）</a:t>
            </a:r>
            <a:endParaRPr lang="en-US" altLang="zh-CN" sz="1500"/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开放牧场、草饲喂养</a:t>
            </a:r>
            <a:endParaRPr lang="en-US" altLang="zh-CN" sz="1500"/>
          </a:p>
          <a:p>
            <a:pPr marL="0" indent="0" algn="l">
              <a:spcBef>
                <a:spcPts val="60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15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2.4.2认证体系：</a:t>
            </a:r>
            <a:endParaRPr lang="en-US" altLang="zh-CN" sz="15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MPI（新西兰政府监管认证）：官方监管食品/农业安全、出口合规</a:t>
            </a:r>
            <a:endParaRPr lang="en-US" altLang="zh-CN" sz="1500"/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AsureQuality：第三方质量认证，从农场到货架的全链条食品安全认证</a:t>
            </a:r>
            <a:endParaRPr lang="en-US" altLang="zh-CN" sz="1500"/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New Zealand FernMark Licence：新西兰国家原产认证，“国家名片”</a:t>
            </a:r>
            <a:endParaRPr lang="en-US" altLang="zh-CN" sz="1500"/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NZFOODAWARDS 2017 Supreme Winner：新西兰食品行业顶级奖项</a:t>
            </a:r>
            <a:endParaRPr lang="en-US" altLang="zh-CN" sz="1500"/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World Dairy Innovation Awards 2021 Winner：全球乳业创新奖项</a:t>
            </a:r>
            <a:endParaRPr lang="en-US" altLang="zh-CN" sz="1500"/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NZFAP：新西兰农场端认证，保障可追溯性与动物福利</a:t>
            </a:r>
            <a:endParaRPr lang="en-US" altLang="zh-CN" sz="1500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/>
              <a:t>卖点</a:t>
            </a:r>
            <a:r>
              <a:rPr lang="en-US" altLang="zh-CN" sz="3200"/>
              <a:t>3</a:t>
            </a:r>
            <a:r>
              <a:rPr lang="zh-CN" altLang="en-US" sz="3200"/>
              <a:t>：</a:t>
            </a:r>
            <a:r>
              <a:rPr lang="en-US" altLang="zh-CN" sz="3200"/>
              <a:t>95%</a:t>
            </a:r>
            <a:r>
              <a:rPr lang="zh-CN" altLang="en-US" sz="3200"/>
              <a:t>以上高动物性原料</a:t>
            </a:r>
            <a:r>
              <a:rPr lang="en-US" altLang="zh-CN" sz="3200"/>
              <a:t> · </a:t>
            </a:r>
            <a:r>
              <a:rPr lang="zh-CN" altLang="en-US" sz="3200"/>
              <a:t>还原肉食天性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3894455"/>
            <a:ext cx="10968990" cy="927735"/>
          </a:xfrm>
        </p:spPr>
        <p:txBody>
          <a:bodyPr>
            <a:normAutofit lnSpcReduction="10000"/>
          </a:bodyPr>
          <a:p>
            <a:pPr marL="57150" indent="-285750" algn="l">
              <a:spcAft>
                <a:spcPts val="0"/>
              </a:spcAft>
              <a:buClrTx/>
              <a:buSzTx/>
            </a:pP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符合猫咪作为专性肉食动物的营养需求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57150" indent="-285750" algn="l">
              <a:spcAft>
                <a:spcPts val="0"/>
              </a:spcAft>
              <a:buClrTx/>
              <a:buSzTx/>
            </a:pP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高肉含量 = 高适口性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1256030" y="1644015"/>
          <a:ext cx="8966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245"/>
                <a:gridCol w="2468245"/>
                <a:gridCol w="4029710"/>
              </a:tblGrid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>
                          <a:solidFill>
                            <a:schemeClr val="tx1"/>
                          </a:solidFill>
                        </a:rPr>
                        <a:t>配方</a:t>
                      </a:r>
                      <a:endParaRPr lang="en-US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>
                          <a:solidFill>
                            <a:schemeClr val="tx1"/>
                          </a:solidFill>
                        </a:rPr>
                        <a:t>鲜鸡胸肉含量</a:t>
                      </a:r>
                      <a:endParaRPr lang="en-US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>
                          <a:solidFill>
                            <a:schemeClr val="tx1"/>
                          </a:solidFill>
                        </a:rPr>
                        <a:t>动物性原料总计</a:t>
                      </a:r>
                      <a:endParaRPr lang="en-US" altLang="en-US" sz="16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/>
                        <a:t>鸡肉南瓜配方</a:t>
                      </a:r>
                      <a:endParaRPr lang="en-US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/>
                        <a:t>65%</a:t>
                      </a:r>
                      <a:endParaRPr lang="en-US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/>
                        <a:t>≥95%（含鲜肉、内脏、羊乳）</a:t>
                      </a:r>
                      <a:endParaRPr lang="en-US" altLang="en-US" sz="1600"/>
                    </a:p>
                    <a:p>
                      <a:pPr algn="ctr">
                        <a:buNone/>
                      </a:pPr>
                      <a:endParaRPr lang="en-US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/>
                        <a:t>鸡肉兔肉配方</a:t>
                      </a:r>
                      <a:endParaRPr lang="en-US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/>
                        <a:t>62%</a:t>
                      </a:r>
                      <a:endParaRPr lang="en-US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/>
                        <a:t>≥95%（含鲜肉、内脏、羊乳）</a:t>
                      </a:r>
                      <a:endParaRPr lang="en-US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/>
              <a:t>卖点</a:t>
            </a:r>
            <a:r>
              <a:rPr lang="en-US" altLang="zh-CN" sz="3200"/>
              <a:t>4</a:t>
            </a:r>
            <a:r>
              <a:rPr lang="zh-CN" altLang="en-US" sz="3200"/>
              <a:t>：天然功能组合</a:t>
            </a:r>
            <a:r>
              <a:rPr lang="en-US" altLang="zh-CN" sz="3200"/>
              <a:t> · </a:t>
            </a:r>
            <a:r>
              <a:rPr lang="zh-CN" altLang="en-US" sz="3200"/>
              <a:t>精准健康呵护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576070"/>
            <a:ext cx="10968990" cy="1308735"/>
          </a:xfrm>
        </p:spPr>
        <p:txBody>
          <a:bodyPr>
            <a:normAutofit lnSpcReduction="10000"/>
          </a:bodyPr>
          <a:p>
            <a:pPr marL="0" algn="l">
              <a:spcAft>
                <a:spcPts val="0"/>
              </a:spcAft>
              <a:buClrTx/>
              <a:buSzTx/>
              <a:buNone/>
            </a:pP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3.1蛋黄（含卵磷脂）+鱼油（EPA、DHA）+亚麻籽粉（ALA）：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algn="l">
              <a:spcAft>
                <a:spcPts val="0"/>
              </a:spcAft>
              <a:buClrTx/>
              <a:buSzTx/>
            </a:pPr>
            <a:r>
              <a:rPr lang="zh-CN" altLang="en-US" sz="1500"/>
              <a:t>不仅能滋养毛发毛囊、强韧毛发根部，还能让毛发更有光泽感，摸起来顺滑不炸毛，自带“水光肌”效果。</a:t>
            </a:r>
            <a:endParaRPr lang="zh-CN" altLang="en-US" sz="1500"/>
          </a:p>
          <a:p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8330" y="2774950"/>
            <a:ext cx="10968990" cy="11944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eaLnBrk="1">
              <a:lnSpc>
                <a:spcPct val="130000"/>
              </a:lnSpc>
              <a:spcAft>
                <a:spcPts val="0"/>
              </a:spcAft>
              <a:buClrTx/>
              <a:buSzTx/>
              <a:buNone/>
            </a:pP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3.2天然果蔬添加 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  <a:p>
            <a:pPr marL="0" indent="0" algn="l" defTabSz="266700" eaLnBrk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>
                <a:sym typeface="+mn-ea"/>
              </a:rPr>
              <a:t>添加新鲜南瓜：补充天然粗纤维，促进肠道蠕动，帮助猫咪顺畅排便，减少便秘困扰。</a:t>
            </a:r>
            <a:endParaRPr lang="zh-CN" altLang="en-US" sz="1500"/>
          </a:p>
          <a:p>
            <a:pPr marL="0" indent="0" algn="l" defTabSz="266700" eaLnBrk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>
                <a:sym typeface="+mn-ea"/>
              </a:rPr>
              <a:t>添加蔓越莓粉：抑制致病菌吸附在猫尿道上皮细胞上，呵护猫咪泌尿健康；</a:t>
            </a:r>
            <a:endParaRPr lang="zh-CN" altLang="en-US" sz="1500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>
                <a:sym typeface="+mn-ea"/>
              </a:rPr>
              <a:t>卖点</a:t>
            </a:r>
            <a:r>
              <a:rPr lang="en-US" altLang="zh-CN" sz="3200">
                <a:sym typeface="+mn-ea"/>
              </a:rPr>
              <a:t>5</a:t>
            </a:r>
            <a:r>
              <a:rPr lang="zh-CN" altLang="en-US" sz="3200">
                <a:sym typeface="+mn-ea"/>
              </a:rPr>
              <a:t>：双层质地设计</a:t>
            </a:r>
            <a:r>
              <a:rPr lang="en-US" altLang="zh-CN" sz="3200">
                <a:sym typeface="+mn-ea"/>
              </a:rPr>
              <a:t> · </a:t>
            </a:r>
            <a:r>
              <a:rPr lang="zh-CN" altLang="en-US" sz="3200">
                <a:sym typeface="+mn-ea"/>
              </a:rPr>
              <a:t>满足舔</a:t>
            </a:r>
            <a:r>
              <a:rPr lang="en-US" altLang="zh-CN" sz="3200">
                <a:sym typeface="+mn-ea"/>
              </a:rPr>
              <a:t>+</a:t>
            </a:r>
            <a:r>
              <a:rPr lang="zh-CN" altLang="en-US" sz="3200">
                <a:sym typeface="+mn-ea"/>
              </a:rPr>
              <a:t>嚼双重口感</a:t>
            </a:r>
            <a:r>
              <a:rPr lang="zh-CN" altLang="en-US" sz="3200">
                <a:sym typeface="+mn-ea"/>
              </a:rPr>
              <a:t>体验</a:t>
            </a:r>
            <a:endParaRPr lang="zh-CN" altLang="en-US" sz="320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marR="0" indent="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1500">
                <a:sym typeface="Helvetica Neue" panose="02000503000000020004"/>
              </a:rPr>
              <a:t>猫：</a:t>
            </a:r>
            <a:endParaRPr kumimoji="0" lang="en-US" altLang="zh-CN" sz="1500" i="0" u="none" strike="noStrike" cap="none" normalizeH="0" baseline="0">
              <a:uFillTx/>
              <a:sym typeface="Helvetica Neue" panose="02000503000000020004"/>
            </a:endParaRPr>
          </a:p>
          <a:p>
            <a:pPr marL="0" marR="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zh-CN" altLang="en-US" sz="1500">
                <a:sym typeface="Helvetica Neue" panose="02000503000000020004"/>
              </a:rPr>
              <a:t>  慕斯+肉绒双层质地仿生肉质设计，“手撕鸡丝”打底，盖上厚乳慕斯，有嚼有舔，肉感加倍。</a:t>
            </a:r>
            <a:endParaRPr kumimoji="0" lang="zh-CN" altLang="en-US" sz="1500" i="0" u="none" strike="noStrike" cap="none" normalizeH="0" baseline="0">
              <a:uFillTx/>
              <a:sym typeface="Helvetica Neue" panose="02000503000000020004"/>
            </a:endParaRPr>
          </a:p>
          <a:p>
            <a:pPr marL="0" marR="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zh-CN" altLang="en-US" sz="1500">
                <a:sym typeface="Helvetica Neue" panose="02000503000000020004"/>
              </a:rPr>
              <a:t>  双色巴斯克，仪式满满。</a:t>
            </a:r>
            <a:endParaRPr kumimoji="0" lang="zh-CN" altLang="en-US" sz="1500" i="0" u="none" strike="noStrike" cap="none" normalizeH="0" baseline="0">
              <a:uFillTx/>
              <a:sym typeface="Helvetica Neue" panose="02000503000000020004"/>
            </a:endParaRPr>
          </a:p>
          <a:p>
            <a:pPr marL="0" marR="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zh-CN" altLang="en-US" sz="1500">
              <a:sym typeface="Helvetica Neue" panose="02000503000000020004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>
                <a:sym typeface="+mn-ea"/>
              </a:rPr>
              <a:t>卖点</a:t>
            </a:r>
            <a:r>
              <a:rPr lang="en-US" altLang="zh-CN" sz="3200">
                <a:sym typeface="+mn-ea"/>
              </a:rPr>
              <a:t>6</a:t>
            </a:r>
            <a:r>
              <a:rPr lang="zh-CN" altLang="en-US" sz="3200">
                <a:sym typeface="+mn-ea"/>
              </a:rPr>
              <a:t>：小杯装</a:t>
            </a:r>
            <a:r>
              <a:rPr lang="en-US" altLang="zh-CN" sz="3200">
                <a:sym typeface="+mn-ea"/>
              </a:rPr>
              <a:t> + </a:t>
            </a:r>
            <a:r>
              <a:rPr lang="zh-CN" altLang="en-US" sz="3200">
                <a:sym typeface="+mn-ea"/>
              </a:rPr>
              <a:t>易撕</a:t>
            </a:r>
            <a:r>
              <a:rPr lang="zh-CN" altLang="en-US" sz="3200">
                <a:sym typeface="+mn-ea"/>
              </a:rPr>
              <a:t>拉设计</a:t>
            </a:r>
            <a:r>
              <a:rPr lang="en-US" altLang="zh-CN" sz="3200">
                <a:sym typeface="+mn-ea"/>
              </a:rPr>
              <a:t>，</a:t>
            </a:r>
            <a:r>
              <a:rPr lang="zh-CN" altLang="en-US" sz="3200">
                <a:sym typeface="+mn-ea"/>
              </a:rPr>
              <a:t>便捷喂食</a:t>
            </a:r>
            <a:r>
              <a:rPr lang="zh-CN" altLang="en-US" sz="3200">
                <a:sym typeface="+mn-ea"/>
              </a:rPr>
              <a:t>不浪费</a:t>
            </a:r>
            <a:endParaRPr lang="zh-CN" altLang="en-US" sz="320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50g</a:t>
            </a:r>
            <a:r>
              <a:rPr lang="zh-CN" altLang="en-US">
                <a:sym typeface="+mn-ea"/>
              </a:rPr>
              <a:t>小杯装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一餐一杯，不剩饭、不浪费</a:t>
            </a:r>
            <a:endParaRPr lang="zh-CN" altLang="en-US"/>
          </a:p>
          <a:p>
            <a:r>
              <a:rPr lang="zh-CN" altLang="en-US">
                <a:sym typeface="+mn-ea"/>
              </a:rPr>
              <a:t>易撕膜设计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美甲也能轻松撕开</a:t>
            </a:r>
            <a:endParaRPr lang="zh-CN" altLang="en-US"/>
          </a:p>
          <a:p>
            <a:r>
              <a:rPr lang="zh-CN" altLang="en-US">
                <a:sym typeface="+mn-ea"/>
              </a:rPr>
              <a:t>常温</a:t>
            </a:r>
            <a:r>
              <a:rPr lang="en-US" altLang="zh-CN">
                <a:sym typeface="+mn-ea"/>
              </a:rPr>
              <a:t>18</a:t>
            </a:r>
            <a:r>
              <a:rPr lang="zh-CN" altLang="en-US">
                <a:sym typeface="+mn-ea"/>
              </a:rPr>
              <a:t>个月保存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无需冷藏，方便囤货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1811</Words>
  <Application>WPS 演示</Application>
  <PresentationFormat>宽屏</PresentationFormat>
  <Paragraphs>125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3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quote-cjk-patch</vt:lpstr>
      <vt:lpstr>var(--dsw-font-markdown-table-head)</vt:lpstr>
      <vt:lpstr>var(--dsw-font-markdown-table)</vt:lpstr>
      <vt:lpstr>Thonburi</vt:lpstr>
      <vt:lpstr>微软雅黑</vt:lpstr>
      <vt:lpstr>Helvetica Neue</vt:lpstr>
      <vt:lpstr>Arial</vt:lpstr>
      <vt:lpstr>Apple Color Emoji</vt:lpstr>
      <vt:lpstr>Helvetica Neue</vt:lpstr>
      <vt:lpstr>PingFang SC Semibold</vt:lpstr>
      <vt:lpstr>PingFang SC</vt:lpstr>
      <vt:lpstr>宋体</vt:lpstr>
      <vt:lpstr>WPS</vt:lpstr>
      <vt:lpstr>PowerPoint 演示文稿</vt:lpstr>
      <vt:lpstr>PowerPoint 演示文稿</vt:lpstr>
      <vt:lpstr>一、产品基础信息</vt:lpstr>
      <vt:lpstr>PowerPoint 演示文稿</vt:lpstr>
      <vt:lpstr>PowerPoint 演示文稿</vt:lpstr>
      <vt:lpstr>PowerPoint 演示文稿</vt:lpstr>
      <vt:lpstr>PowerPoint 演示文稿</vt:lpstr>
      <vt:lpstr>卖点3：95%以上高动物性原料 · 还原肉食天性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J0ey</cp:lastModifiedBy>
  <cp:revision>168</cp:revision>
  <dcterms:created xsi:type="dcterms:W3CDTF">2026-04-08T03:22:57Z</dcterms:created>
  <dcterms:modified xsi:type="dcterms:W3CDTF">2026-04-08T03:22:57Z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C44E66AF4C25873AE8C5D5694A1212D7_43</vt:lpwstr>
  </property>
</Properties>
</file>